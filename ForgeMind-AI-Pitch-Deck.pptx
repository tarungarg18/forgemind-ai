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5EEAD4"/>
                </a:solidFill>
                <a:latin typeface="Calibri"/>
              </a:rPr>
              <a:t>ET AI HACKATHON 2026 · PROBLEM STATEMENT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Calibri"/>
              </a:rPr>
              <a:t>ForgeMind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CBD5E1"/>
                </a:solidFill>
                <a:latin typeface="Calibri"/>
              </a:rPr>
              <a:t>Unified Asset &amp; Operations Brain for Industrial Knowledge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CA3AF"/>
                </a:solidFill>
                <a:latin typeface="Calibri"/>
              </a:rPr>
              <a:t>Upload, search, and ask any plant question — with sources, a live knowledge graph, and grounded compliance.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forgemind.tarachand.tech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766E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827"/>
                </a:solidFill>
                <a:latin typeface="Calibri"/>
              </a:rPr>
              <a:t>Industrial knowledge is fragmented — and it's costing lives, hours, and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ForgeMind AI  ·  ET AI Hackathon 2026  ·  PS8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b="1" sz="1700">
                <a:solidFill>
                  <a:srgbClr val="0B534D"/>
                </a:solidFill>
              </a:rPr>
              <a:t>35% </a:t>
            </a:r>
            <a:r>
              <a:rPr sz="1700">
                <a:solidFill>
                  <a:srgbClr val="111827"/>
                </a:solidFill>
              </a:rPr>
              <a:t>of working hours in asset-intensive industries go to searching for information or recreating documents that already exist (McKinsey, 2024).</a:t>
            </a:r>
          </a:p>
          <a:p>
            <a:pPr>
              <a:spcAft>
                <a:spcPts val="1800"/>
              </a:spcAft>
            </a:pPr>
            <a:r>
              <a:rPr b="1" sz="1700">
                <a:solidFill>
                  <a:srgbClr val="0B534D"/>
                </a:solidFill>
              </a:rPr>
              <a:t>7–12 </a:t>
            </a:r>
            <a:r>
              <a:rPr sz="1700">
                <a:solidFill>
                  <a:srgbClr val="111827"/>
                </a:solidFill>
              </a:rPr>
              <a:t>disconnected document systems per large industrial plant on average — drawings, work orders, procedures, inspections, regulatory filings, all siloed.</a:t>
            </a:r>
          </a:p>
          <a:p>
            <a:pPr>
              <a:spcAft>
                <a:spcPts val="1800"/>
              </a:spcAft>
            </a:pPr>
            <a:r>
              <a:rPr b="1" sz="1700">
                <a:solidFill>
                  <a:srgbClr val="0B534D"/>
                </a:solidFill>
              </a:rPr>
              <a:t>18–22% </a:t>
            </a:r>
            <a:r>
              <a:rPr sz="1700">
                <a:solidFill>
                  <a:srgbClr val="111827"/>
                </a:solidFill>
              </a:rPr>
              <a:t>of unplanned downtime in Indian heavy industry traced to fragmented equipment history and failure context.</a:t>
            </a:r>
          </a:p>
          <a:p>
            <a:pPr>
              <a:spcAft>
                <a:spcPts val="1800"/>
              </a:spcAft>
            </a:pPr>
            <a:r>
              <a:rPr b="1" sz="1700">
                <a:solidFill>
                  <a:srgbClr val="0B534D"/>
                </a:solidFill>
              </a:rPr>
              <a:t>25% </a:t>
            </a:r>
            <a:r>
              <a:rPr sz="1700">
                <a:solidFill>
                  <a:srgbClr val="111827"/>
                </a:solidFill>
              </a:rPr>
              <a:t>of India's experienced industrial engineers retire within a decade — taking undocumented knowledge with them, permanently.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737360"/>
            <a:ext cx="5029200" cy="4206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534D"/>
                </a:solidFill>
                <a:latin typeface="Calibri"/>
              </a:rPr>
              <a:t>THE REAL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377440"/>
            <a:ext cx="448056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111827"/>
                </a:solidFill>
                <a:latin typeface="Calibri"/>
              </a:rPr>
              <a:t>This isn't a file-management problem.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111827"/>
                </a:solidFill>
                <a:latin typeface="Calibri"/>
              </a:rPr>
              <a:t>It's a safety problem, a quality problem, and an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111827"/>
                </a:solidFill>
                <a:latin typeface="Calibri"/>
              </a:rPr>
              <a:t>operational-efficiency problem — and the intelligence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111827"/>
                </a:solidFill>
                <a:latin typeface="Calibri"/>
              </a:rPr>
              <a:t>layer to connect scattered documents into one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111827"/>
                </a:solidFill>
                <a:latin typeface="Calibri"/>
              </a:rPr>
              <a:t>queryable, continuously-updated knowledge base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111827"/>
                </a:solidFill>
                <a:latin typeface="Calibri"/>
              </a:rPr>
              <a:t>has never been built.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766E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827"/>
                </a:solidFill>
                <a:latin typeface="Calibri"/>
              </a:rPr>
              <a:t>ForgeMind AI — one place to upload, search, and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ForgeMind AI  ·  ET AI Hackathon 2026  ·  PS8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2606040" cy="39319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2606040" cy="7315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534D"/>
                </a:solidFill>
                <a:latin typeface="Calibri"/>
              </a:rPr>
              <a:t>Upload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21488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Calibri"/>
              </a:rPr>
              <a:t>PDF, Word, Excel, text — parsed, entity-extracted, and permanently persisted for the whole team.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920240"/>
            <a:ext cx="2606040" cy="39319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920240"/>
            <a:ext cx="2606040" cy="7315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219456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534D"/>
                </a:solidFill>
                <a:latin typeface="Calibri"/>
              </a:rPr>
              <a:t>Knowledge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697480"/>
            <a:ext cx="21488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Calibri"/>
              </a:rPr>
              <a:t>Keyword + semantic search across every document. Browse equipment on a plant map with full asset history.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920240"/>
            <a:ext cx="2606040" cy="39319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920240"/>
            <a:ext cx="2606040" cy="7315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534D"/>
                </a:solidFill>
                <a:latin typeface="Calibri"/>
              </a:rPr>
              <a:t>Ask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697480"/>
            <a:ext cx="21488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Calibri"/>
              </a:rPr>
              <a:t>Ask any plant question in plain language. Answers cite sources, show reasoning, and flag compliance status.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1920240"/>
            <a:ext cx="2606040" cy="39319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0" y="1920240"/>
            <a:ext cx="2606040" cy="7315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2600" y="219456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534D"/>
                </a:solidFill>
                <a:latin typeface="Calibri"/>
              </a:rPr>
              <a:t>Insights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2697480"/>
            <a:ext cx="21488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Calibri"/>
              </a:rPr>
              <a:t>Live coverage score, auto-detected conflicts and gaps, and a Lessons Learned engine mining incident history.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766E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827"/>
                </a:solidFill>
                <a:latin typeface="Calibri"/>
              </a:rPr>
              <a:t>From raw upload to a living, queryable plant knowledge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ForgeMind AI  ·  ET AI Hackathon 2026  ·  PS8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91640"/>
            <a:ext cx="457200" cy="65836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4572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417320" y="169164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1691640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111827"/>
                </a:solidFill>
                <a:latin typeface="Calibri"/>
              </a:rPr>
              <a:t>Upload (PDF/DOCX/XLSX/TXT/image)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459736"/>
            <a:ext cx="457200" cy="65836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59736"/>
            <a:ext cx="4572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17320" y="2459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1640" y="2459736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111827"/>
                </a:solidFill>
                <a:latin typeface="Calibri"/>
              </a:rPr>
              <a:t>Parse text → LLM entity extraction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111827"/>
                </a:solidFill>
                <a:latin typeface="Calibri"/>
              </a:rPr>
              <a:t>(equipment tags, parameters, regs, personnel, dates)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227832"/>
            <a:ext cx="457200" cy="65836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27832"/>
            <a:ext cx="4572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227832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91640" y="3227832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111827"/>
                </a:solidFill>
                <a:latin typeface="Calibri"/>
              </a:rPr>
              <a:t>SQLite (documents + entities) + vector index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111827"/>
                </a:solidFill>
                <a:latin typeface="Calibri"/>
              </a:rPr>
              <a:t>(local embeddings, optional ChromaDB)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995928"/>
            <a:ext cx="457200" cy="65836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995928"/>
            <a:ext cx="4572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995928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91640" y="3995928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111827"/>
                </a:solidFill>
                <a:latin typeface="Calibri"/>
              </a:rPr>
              <a:t>Grow knowledge graph · detect conflicts · recompute gaps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764024"/>
            <a:ext cx="457200" cy="65836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764024"/>
            <a:ext cx="4572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764024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91640" y="4764024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111827"/>
                </a:solidFill>
                <a:latin typeface="Calibri"/>
              </a:rPr>
              <a:t>Knowledge search + Ask AI (RAG) → OpenRouter LLM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111827"/>
                </a:solidFill>
                <a:latin typeface="Calibri"/>
              </a:rPr>
              <a:t>(grounded compliance, decision card)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532120"/>
            <a:ext cx="457200" cy="65836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532120"/>
            <a:ext cx="4572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17320" y="553212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91640" y="5532120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111827"/>
                </a:solidFill>
                <a:latin typeface="Calibri"/>
              </a:rPr>
              <a:t>Lessons Learned engine mines incident/near-miss patterns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766E"/>
                </a:solidFill>
                <a:latin typeface="Calibri"/>
              </a:rPr>
              <a:t>PRODUCT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827"/>
                </a:solidFill>
                <a:latin typeface="Calibri"/>
              </a:rPr>
              <a:t>Home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ForgeMind AI  ·  ET AI Hackathon 2026  ·  PS8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</a:p>
        </p:txBody>
      </p:sp>
      <p:sp>
        <p:nvSpPr>
          <p:cNvPr id="7" name="Rectangle 6"/>
          <p:cNvSpPr/>
          <p:nvPr/>
        </p:nvSpPr>
        <p:spPr>
          <a:xfrm>
            <a:off x="860016" y="1570200"/>
            <a:ext cx="6692448" cy="47234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16" y="1600200"/>
            <a:ext cx="6632448" cy="46634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92440" y="1737360"/>
            <a:ext cx="3474720" cy="4206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965960"/>
            <a:ext cx="30175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111827"/>
                </a:solidFill>
                <a:latin typeface="Calibri"/>
              </a:rPr>
              <a:t>Coverage score, top recommendations, and recent alerts at a glance.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766E"/>
                </a:solidFill>
                <a:latin typeface="Calibri"/>
              </a:rPr>
              <a:t>PRODUCT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827"/>
                </a:solidFill>
                <a:latin typeface="Calibri"/>
              </a:rPr>
              <a:t>Upload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ForgeMind AI  ·  ET AI Hackathon 2026  ·  PS8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</a:p>
        </p:txBody>
      </p:sp>
      <p:sp>
        <p:nvSpPr>
          <p:cNvPr id="7" name="Rectangle 6"/>
          <p:cNvSpPr/>
          <p:nvPr/>
        </p:nvSpPr>
        <p:spPr>
          <a:xfrm>
            <a:off x="860016" y="1570200"/>
            <a:ext cx="6692448" cy="47234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-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16" y="1600200"/>
            <a:ext cx="6632448" cy="46634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92440" y="1737360"/>
            <a:ext cx="3474720" cy="4206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965960"/>
            <a:ext cx="30175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111827"/>
                </a:solidFill>
                <a:latin typeface="Calibri"/>
              </a:rPr>
              <a:t>Real-time processing stages — parse, entity extraction, SQLite, embeddings, ready. Graph node/edge counts grow with every upload.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766E"/>
                </a:solidFill>
                <a:latin typeface="Calibri"/>
              </a:rPr>
              <a:t>PRODUCT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827"/>
                </a:solidFill>
                <a:latin typeface="Calibri"/>
              </a:rPr>
              <a:t>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ForgeMind AI  ·  ET AI Hackathon 2026  ·  PS8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</a:p>
        </p:txBody>
      </p:sp>
      <p:sp>
        <p:nvSpPr>
          <p:cNvPr id="7" name="Rectangle 6"/>
          <p:cNvSpPr/>
          <p:nvPr/>
        </p:nvSpPr>
        <p:spPr>
          <a:xfrm>
            <a:off x="3361442" y="1570200"/>
            <a:ext cx="1689594" cy="47234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-knowledge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1442" y="1600200"/>
            <a:ext cx="1629594" cy="46634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92440" y="1737360"/>
            <a:ext cx="3474720" cy="4206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965960"/>
            <a:ext cx="30175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111827"/>
                </a:solidFill>
                <a:latin typeface="Calibri"/>
              </a:rPr>
              <a:t>Keyword + semantic search across every document, equipment, and event in the plant.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766E"/>
                </a:solidFill>
                <a:latin typeface="Calibri"/>
              </a:rPr>
              <a:t>PRODUCT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827"/>
                </a:solidFill>
                <a:latin typeface="Calibri"/>
              </a:rPr>
              <a:t>Knowledge — Equipment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ForgeMind AI  ·  ET AI Hackathon 2026  ·  PS8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</a:p>
        </p:txBody>
      </p:sp>
      <p:sp>
        <p:nvSpPr>
          <p:cNvPr id="7" name="Rectangle 6"/>
          <p:cNvSpPr/>
          <p:nvPr/>
        </p:nvSpPr>
        <p:spPr>
          <a:xfrm>
            <a:off x="3393496" y="1570200"/>
            <a:ext cx="1625487" cy="47234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5-knowledge-d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496" y="1600200"/>
            <a:ext cx="1565487" cy="46634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92440" y="1737360"/>
            <a:ext cx="3474720" cy="4206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965960"/>
            <a:ext cx="30175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111827"/>
                </a:solidFill>
                <a:latin typeface="Calibri"/>
              </a:rPr>
              <a:t>Full asset timeline, linked documents, missing-doc gaps, and impact radius for any equipment.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766E"/>
                </a:solidFill>
                <a:latin typeface="Calibri"/>
              </a:rPr>
              <a:t>PRODUCT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827"/>
                </a:solidFill>
                <a:latin typeface="Calibri"/>
              </a:rPr>
              <a:t>Ask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ForgeMind AI  ·  ET AI Hackathon 2026  ·  PS8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</a:p>
        </p:txBody>
      </p:sp>
      <p:sp>
        <p:nvSpPr>
          <p:cNvPr id="7" name="Rectangle 6"/>
          <p:cNvSpPr/>
          <p:nvPr/>
        </p:nvSpPr>
        <p:spPr>
          <a:xfrm>
            <a:off x="2629814" y="1570200"/>
            <a:ext cx="3152851" cy="47234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6-ask-ai-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9814" y="1600200"/>
            <a:ext cx="3092851" cy="46634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92440" y="1737360"/>
            <a:ext cx="3474720" cy="4206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965960"/>
            <a:ext cx="30175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111827"/>
                </a:solidFill>
                <a:latin typeface="Calibri"/>
              </a:rPr>
              <a:t>A grounded answer with a decision card — risk, business impact, compliance status, and evidence sources.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766E"/>
                </a:solidFill>
                <a:latin typeface="Calibri"/>
              </a:rPr>
              <a:t>PRODUCT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827"/>
                </a:solidFill>
                <a:latin typeface="Calibri"/>
              </a:rPr>
              <a:t>Ask AI — Knowledge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ForgeMind AI  ·  ET AI Hackathon 2026  ·  PS8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</a:p>
        </p:txBody>
      </p:sp>
      <p:sp>
        <p:nvSpPr>
          <p:cNvPr id="7" name="Rectangle 6"/>
          <p:cNvSpPr/>
          <p:nvPr/>
        </p:nvSpPr>
        <p:spPr>
          <a:xfrm>
            <a:off x="2611163" y="1570200"/>
            <a:ext cx="3190153" cy="47234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8-ask-ai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163" y="1600200"/>
            <a:ext cx="3130153" cy="46634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92440" y="1737360"/>
            <a:ext cx="3474720" cy="4206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965960"/>
            <a:ext cx="30175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111827"/>
                </a:solidFill>
                <a:latin typeface="Calibri"/>
              </a:rPr>
              <a:t>A real, rendered node/edge graph — not a text dump — showing everything connected to the asset in question.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766E"/>
                </a:solidFill>
                <a:latin typeface="Calibri"/>
              </a:rPr>
              <a:t>PRODUCT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827"/>
                </a:solidFill>
                <a:latin typeface="Calibri"/>
              </a:rPr>
              <a:t>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ForgeMind AI  ·  ET AI Hackathon 2026  ·  PS8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</a:p>
        </p:txBody>
      </p:sp>
      <p:sp>
        <p:nvSpPr>
          <p:cNvPr id="7" name="Rectangle 6"/>
          <p:cNvSpPr/>
          <p:nvPr/>
        </p:nvSpPr>
        <p:spPr>
          <a:xfrm>
            <a:off x="2310864" y="1570200"/>
            <a:ext cx="3790752" cy="47234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9-ins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864" y="1600200"/>
            <a:ext cx="3730752" cy="46634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92440" y="1737360"/>
            <a:ext cx="3474720" cy="4206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965960"/>
            <a:ext cx="30175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111827"/>
                </a:solidFill>
                <a:latin typeface="Calibri"/>
              </a:rPr>
              <a:t>Live coverage snapshot, auto-detected conflicts and gaps, and a Lessons Learned engine mining incident history.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766E"/>
                </a:solidFill>
                <a:latin typeface="Calibri"/>
              </a:rPr>
              <a:t>WHAT MAKES THIS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827"/>
                </a:solidFill>
                <a:latin typeface="Calibri"/>
              </a:rPr>
              <a:t>Real intelligence, not static demo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ForgeMind AI  ·  ET AI Hackathon 2026  ·  PS8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0515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0515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92808"/>
            <a:ext cx="2926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534D"/>
                </a:solidFill>
                <a:latin typeface="Calibri"/>
              </a:rPr>
              <a:t>Dynamic knowledge graph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874520"/>
            <a:ext cx="7406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11827"/>
                </a:solidFill>
                <a:latin typeface="Calibri"/>
              </a:rPr>
              <a:t>Every upload adds real nodes and edges — regulation nodes are created on the fly when referenced. The graph you see genuinely grows.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71800"/>
            <a:ext cx="10881360" cy="10515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971800"/>
            <a:ext cx="73152" cy="10515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081528"/>
            <a:ext cx="2926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534D"/>
                </a:solidFill>
                <a:latin typeface="Calibri"/>
              </a:rPr>
              <a:t>Automatic conflict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063240"/>
            <a:ext cx="7406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11827"/>
                </a:solidFill>
                <a:latin typeface="Calibri"/>
              </a:rPr>
              <a:t>Extracted process-parameter values are compared across documents for the same equipment; a &gt;10% mismatch is flagged automatically.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160520"/>
            <a:ext cx="10881360" cy="10515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160520"/>
            <a:ext cx="73152" cy="10515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270248"/>
            <a:ext cx="2926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534D"/>
                </a:solidFill>
                <a:latin typeface="Calibri"/>
              </a:rPr>
              <a:t>Grounded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251960"/>
            <a:ext cx="7406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11827"/>
                </a:solidFill>
                <a:latin typeface="Calibri"/>
              </a:rPr>
              <a:t>Compliance flags (Factory Act/OISD/PESO) are based only on retrieved regulation evidence — marked 'unknown' rather than guessed when no evidence exists.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349240"/>
            <a:ext cx="10881360" cy="10515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349240"/>
            <a:ext cx="73152" cy="10515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58968"/>
            <a:ext cx="2926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534D"/>
                </a:solidFill>
                <a:latin typeface="Calibri"/>
              </a:rPr>
              <a:t>Lessons Learned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5440680"/>
            <a:ext cx="7406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11827"/>
                </a:solidFill>
                <a:latin typeface="Calibri"/>
              </a:rPr>
              <a:t>Mines incident and near-miss reports for recurring systemic patterns — root causes, contractors, equipment classes — that a single review would miss.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766E"/>
                </a:solidFill>
                <a:latin typeface="Calibr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827"/>
                </a:solidFill>
                <a:latin typeface="Calibri"/>
              </a:rPr>
              <a:t>Built to run today, designed to scale tomorrow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ForgeMind AI  ·  ET AI Hackathon 2026  ·  PS8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534D"/>
                </a:solidFill>
                <a:latin typeface="Calibri"/>
              </a:rP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828800"/>
            <a:ext cx="7589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11827"/>
                </a:solidFill>
                <a:latin typeface="Calibri"/>
              </a:rPr>
              <a:t>Next.js 15 + Tailwind CSS, deployed on Vercel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534D"/>
                </a:solidFill>
                <a:latin typeface="Calibri"/>
              </a:rPr>
              <a:t>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514600"/>
            <a:ext cx="7589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11827"/>
                </a:solidFill>
                <a:latin typeface="Calibri"/>
              </a:rPr>
              <a:t>FastAPI (Python), deployed on Render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534D"/>
                </a:solidFill>
                <a:latin typeface="Calibri"/>
              </a:rPr>
              <a:t>Document store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200400"/>
            <a:ext cx="7589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11827"/>
                </a:solidFill>
                <a:latin typeface="Calibri"/>
              </a:rPr>
              <a:t>SQLite (documents, equipment, events, entities)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534D"/>
                </a:solidFill>
                <a:latin typeface="Calibri"/>
              </a:rPr>
              <a:t>Vector 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886200"/>
            <a:ext cx="7589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11827"/>
                </a:solidFill>
                <a:latin typeface="Calibri"/>
              </a:rPr>
              <a:t>Local embeddings in SQLite by default; optional ChromaDB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7200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534D"/>
                </a:solidFill>
                <a:latin typeface="Calibri"/>
              </a:rPr>
              <a:t>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572000"/>
            <a:ext cx="7589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11827"/>
                </a:solidFill>
                <a:latin typeface="Calibri"/>
              </a:rPr>
              <a:t>OpenRouter (model-agnostic — swap providers without code changes)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5780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534D"/>
                </a:solidFill>
                <a:latin typeface="Calibri"/>
              </a:rPr>
              <a:t>Future path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5257800"/>
            <a:ext cx="7589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11827"/>
                </a:solidFill>
                <a:latin typeface="Calibri"/>
              </a:rPr>
              <a:t>Postgres + Qdrant profile already scaffolded via Docker Compose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766E"/>
                </a:solidFill>
                <a:latin typeface="Calibri"/>
              </a:rPr>
              <a:t>JUDGING CRITERIA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827"/>
                </a:solidFill>
                <a:latin typeface="Calibri"/>
              </a:rPr>
              <a:t>Mapped directly to what was asked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ForgeMind AI  ·  ET AI Hackathon 2026  ·  PS8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84124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56232"/>
            <a:ext cx="32918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534D"/>
                </a:solidFill>
                <a:latin typeface="Calibri"/>
              </a:rPr>
              <a:t>Innovation — 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37944"/>
            <a:ext cx="70408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827"/>
                </a:solidFill>
                <a:latin typeface="Calibri"/>
              </a:rPr>
              <a:t>LLM-driven entity extraction growing a live knowledge graph; automatic conflict/gap detection instead of static demo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43200"/>
            <a:ext cx="10881360" cy="84124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16352"/>
            <a:ext cx="32918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534D"/>
                </a:solidFill>
                <a:latin typeface="Calibri"/>
              </a:rPr>
              <a:t>Business Impact — 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798064"/>
            <a:ext cx="70408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827"/>
                </a:solidFill>
                <a:latin typeface="Calibri"/>
              </a:rPr>
              <a:t>35% of engineer time reclaimed from document search; faster RCA and compliance evidence assembly.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03320"/>
            <a:ext cx="10881360" cy="84124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76472"/>
            <a:ext cx="32918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534D"/>
                </a:solidFill>
                <a:latin typeface="Calibri"/>
              </a:rPr>
              <a:t>Technical Excellence — 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758184"/>
            <a:ext cx="70408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827"/>
                </a:solidFill>
                <a:latin typeface="Calibri"/>
              </a:rPr>
              <a:t>Real RAG pipeline, grounded compliance (no hallucinated pass/fail), resilient error handling (CORS-safe 500s, LLM fallback).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3440"/>
            <a:ext cx="10881360" cy="84124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36592"/>
            <a:ext cx="32918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534D"/>
                </a:solidFill>
                <a:latin typeface="Calibri"/>
              </a:rPr>
              <a:t>Scalability — 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718304"/>
            <a:ext cx="70408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827"/>
                </a:solidFill>
                <a:latin typeface="Calibri"/>
              </a:rPr>
              <a:t>SQLite → Postgres/Qdrant swap-in path already scaffolded; OpenRouter is model-agnostic.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623560"/>
            <a:ext cx="10881360" cy="84124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696712"/>
            <a:ext cx="32918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534D"/>
                </a:solidFill>
                <a:latin typeface="Calibri"/>
              </a:rPr>
              <a:t>User Experience — 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5678424"/>
            <a:ext cx="70408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827"/>
                </a:solidFill>
                <a:latin typeface="Calibri"/>
              </a:rPr>
              <a:t>Guided walkthrough, real graph visualization, working approve/compare actions — tested end-to-end, zero console errors.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766E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827"/>
                </a:solidFill>
                <a:latin typeface="Calibri"/>
              </a:rPr>
              <a:t>What's next beyond the hackathon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ForgeMind AI  ·  ET AI Hackathon 2026  ·  PS8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900">
                <a:solidFill>
                  <a:srgbClr val="111827"/>
                </a:solidFill>
              </a:rPr>
              <a:t>•  OCR + computer vision for scanned P&amp;IDs and equipment photos</a:t>
            </a:r>
          </a:p>
          <a:p>
            <a:pPr>
              <a:spcAft>
                <a:spcPts val="2000"/>
              </a:spcAft>
            </a:pPr>
            <a:r>
              <a:rPr sz="1900">
                <a:solidFill>
                  <a:srgbClr val="111827"/>
                </a:solidFill>
              </a:rPr>
              <a:t>•  Async ingestion queue for large document batches</a:t>
            </a:r>
          </a:p>
          <a:p>
            <a:pPr>
              <a:spcAft>
                <a:spcPts val="2000"/>
              </a:spcAft>
            </a:pPr>
            <a:r>
              <a:rPr sz="1900">
                <a:solidFill>
                  <a:srgbClr val="111827"/>
                </a:solidFill>
              </a:rPr>
              <a:t>•  Knowledge-graph-native storage (Neo4j / RDF) at scale</a:t>
            </a:r>
          </a:p>
          <a:p>
            <a:pPr>
              <a:spcAft>
                <a:spcPts val="2000"/>
              </a:spcAft>
            </a:pPr>
            <a:r>
              <a:rPr sz="1900">
                <a:solidFill>
                  <a:srgbClr val="111827"/>
                </a:solidFill>
              </a:rPr>
              <a:t>•  Role-based access control and audit-grade signing for regulatory submissions</a:t>
            </a:r>
          </a:p>
          <a:p>
            <a:pPr>
              <a:spcAft>
                <a:spcPts val="2000"/>
              </a:spcAft>
            </a:pPr>
            <a:r>
              <a:rPr sz="1900">
                <a:solidFill>
                  <a:srgbClr val="111827"/>
                </a:solidFill>
              </a:rPr>
              <a:t>•  Multi-plant / multi-site knowledge federation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BD5E1"/>
                </a:solidFill>
                <a:latin typeface="Calibri"/>
              </a:rPr>
              <a:t>ForgeMind AI — try it live: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EEAD4"/>
                </a:solidFill>
                <a:latin typeface="Calibri"/>
              </a:rPr>
              <a:t>https://forgemind.tarachand.tech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CA3AF"/>
                </a:solidFill>
                <a:latin typeface="Calibri"/>
              </a:rPr>
              <a:t>github.com/tarungarg18/ForgeMind-AI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